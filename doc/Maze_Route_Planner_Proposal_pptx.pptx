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83C83-46D9-9248-B70C-C6F0014C4031}" v="1" dt="2026-09-29T18:23:03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719"/>
  </p:normalViewPr>
  <p:slideViewPr>
    <p:cSldViewPr snapToGrid="0">
      <p:cViewPr varScale="1">
        <p:scale>
          <a:sx n="138" d="100"/>
          <a:sy n="13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hir Usman" userId="0378c97c-3342-4f21-bf4b-b10097099312" providerId="ADAL" clId="{D4D83C83-46D9-9248-B70C-C6F0014C4031}"/>
    <pc:docChg chg="custSel delSld modSld">
      <pc:chgData name="Hashir Usman" userId="0378c97c-3342-4f21-bf4b-b10097099312" providerId="ADAL" clId="{D4D83C83-46D9-9248-B70C-C6F0014C4031}" dt="2026-09-29T18:27:08.239" v="98" actId="313"/>
      <pc:docMkLst>
        <pc:docMk/>
      </pc:docMkLst>
      <pc:sldChg chg="modNotesTx">
        <pc:chgData name="Hashir Usman" userId="0378c97c-3342-4f21-bf4b-b10097099312" providerId="ADAL" clId="{D4D83C83-46D9-9248-B70C-C6F0014C4031}" dt="2026-09-29T18:26:36.057" v="97" actId="20577"/>
        <pc:sldMkLst>
          <pc:docMk/>
          <pc:sldMk cId="35358820" sldId="256"/>
        </pc:sldMkLst>
      </pc:sldChg>
      <pc:sldChg chg="modSp mod">
        <pc:chgData name="Hashir Usman" userId="0378c97c-3342-4f21-bf4b-b10097099312" providerId="ADAL" clId="{D4D83C83-46D9-9248-B70C-C6F0014C4031}" dt="2026-09-29T18:27:08.239" v="98" actId="313"/>
        <pc:sldMkLst>
          <pc:docMk/>
          <pc:sldMk cId="874310074" sldId="261"/>
        </pc:sldMkLst>
        <pc:spChg chg="mod">
          <ac:chgData name="Hashir Usman" userId="0378c97c-3342-4f21-bf4b-b10097099312" providerId="ADAL" clId="{D4D83C83-46D9-9248-B70C-C6F0014C4031}" dt="2026-09-29T18:27:08.239" v="98" actId="313"/>
          <ac:spMkLst>
            <pc:docMk/>
            <pc:sldMk cId="874310074" sldId="261"/>
            <ac:spMk id="4" creationId="{9AA0E667-753F-4D99-B0E3-44DE508DC9D9}"/>
          </ac:spMkLst>
        </pc:spChg>
      </pc:sldChg>
      <pc:sldChg chg="addSp delSp modSp mod">
        <pc:chgData name="Hashir Usman" userId="0378c97c-3342-4f21-bf4b-b10097099312" providerId="ADAL" clId="{D4D83C83-46D9-9248-B70C-C6F0014C4031}" dt="2026-09-29T18:23:14.967" v="96" actId="478"/>
        <pc:sldMkLst>
          <pc:docMk/>
          <pc:sldMk cId="2001524910" sldId="265"/>
        </pc:sldMkLst>
        <pc:spChg chg="mod">
          <ac:chgData name="Hashir Usman" userId="0378c97c-3342-4f21-bf4b-b10097099312" providerId="ADAL" clId="{D4D83C83-46D9-9248-B70C-C6F0014C4031}" dt="2026-09-29T18:22:01.551" v="87" actId="14100"/>
          <ac:spMkLst>
            <pc:docMk/>
            <pc:sldMk cId="2001524910" sldId="265"/>
            <ac:spMk id="7" creationId="{11A91D4A-2BAF-444C-9577-32EC5C2EFB45}"/>
          </ac:spMkLst>
        </pc:spChg>
        <pc:spChg chg="mod">
          <ac:chgData name="Hashir Usman" userId="0378c97c-3342-4f21-bf4b-b10097099312" providerId="ADAL" clId="{D4D83C83-46D9-9248-B70C-C6F0014C4031}" dt="2026-09-29T18:23:08.416" v="94" actId="1076"/>
          <ac:spMkLst>
            <pc:docMk/>
            <pc:sldMk cId="2001524910" sldId="265"/>
            <ac:spMk id="8" creationId="{E5865C0E-92C9-489B-954C-4C2E05057BC8}"/>
          </ac:spMkLst>
        </pc:spChg>
        <pc:spChg chg="mod">
          <ac:chgData name="Hashir Usman" userId="0378c97c-3342-4f21-bf4b-b10097099312" providerId="ADAL" clId="{D4D83C83-46D9-9248-B70C-C6F0014C4031}" dt="2026-09-29T18:22:48.185" v="92" actId="121"/>
          <ac:spMkLst>
            <pc:docMk/>
            <pc:sldMk cId="2001524910" sldId="265"/>
            <ac:spMk id="9" creationId="{1ABCEAF7-A6CB-4E52-AF6E-4E88081C79E6}"/>
          </ac:spMkLst>
        </pc:spChg>
        <pc:spChg chg="del mod">
          <ac:chgData name="Hashir Usman" userId="0378c97c-3342-4f21-bf4b-b10097099312" providerId="ADAL" clId="{D4D83C83-46D9-9248-B70C-C6F0014C4031}" dt="2026-09-29T18:23:14.967" v="96" actId="478"/>
          <ac:spMkLst>
            <pc:docMk/>
            <pc:sldMk cId="2001524910" sldId="265"/>
            <ac:spMk id="11" creationId="{E7848F73-9125-40DC-B290-7580A7C4B1EC}"/>
          </ac:spMkLst>
        </pc:spChg>
        <pc:spChg chg="mod">
          <ac:chgData name="Hashir Usman" userId="0378c97c-3342-4f21-bf4b-b10097099312" providerId="ADAL" clId="{D4D83C83-46D9-9248-B70C-C6F0014C4031}" dt="2026-09-29T18:22:44.250" v="91" actId="121"/>
          <ac:spMkLst>
            <pc:docMk/>
            <pc:sldMk cId="2001524910" sldId="265"/>
            <ac:spMk id="12" creationId="{77AA18EB-801E-4E01-936A-E7ABB319F05B}"/>
          </ac:spMkLst>
        </pc:spChg>
        <pc:spChg chg="del">
          <ac:chgData name="Hashir Usman" userId="0378c97c-3342-4f21-bf4b-b10097099312" providerId="ADAL" clId="{D4D83C83-46D9-9248-B70C-C6F0014C4031}" dt="2026-09-29T18:22:25.800" v="90" actId="478"/>
          <ac:spMkLst>
            <pc:docMk/>
            <pc:sldMk cId="2001524910" sldId="265"/>
            <ac:spMk id="13" creationId="{CF306937-FDAE-4363-9DA5-6852FF5C1D2F}"/>
          </ac:spMkLst>
        </pc:spChg>
        <pc:spChg chg="add mod">
          <ac:chgData name="Hashir Usman" userId="0378c97c-3342-4f21-bf4b-b10097099312" providerId="ADAL" clId="{D4D83C83-46D9-9248-B70C-C6F0014C4031}" dt="2026-09-29T18:23:03.865" v="93" actId="571"/>
          <ac:spMkLst>
            <pc:docMk/>
            <pc:sldMk cId="2001524910" sldId="265"/>
            <ac:spMk id="15" creationId="{577A345F-517F-DADF-AB26-5D7C75AF21C9}"/>
          </ac:spMkLst>
        </pc:spChg>
      </pc:sldChg>
      <pc:sldChg chg="del">
        <pc:chgData name="Hashir Usman" userId="0378c97c-3342-4f21-bf4b-b10097099312" providerId="ADAL" clId="{D4D83C83-46D9-9248-B70C-C6F0014C4031}" dt="2026-09-29T18:19:04.415" v="0" actId="2696"/>
        <pc:sldMkLst>
          <pc:docMk/>
          <pc:sldMk cId="1649553981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21469" r="21469"/>
          <a:stretch>
            <a:fillRect/>
          </a:stretch>
        </p:blipFill>
        <p:spPr>
          <a:xfrm>
            <a:off x="5238750" y="0"/>
            <a:ext cx="69532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5CCC2A-3002-42B1-A6AF-A71CEE5C3B44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5238750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20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INTELLIGENT</a:t>
            </a:r>
          </a:p>
          <a:p>
            <a:pPr>
              <a:defRPr sz="420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MAZE ROUTE</a:t>
            </a:r>
          </a:p>
          <a:p>
            <a:pPr>
              <a:defRPr sz="420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PLANNER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E7E13-C6F7-4CCE-ACD7-980E9406D643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SOFE 3720  •  Project proposal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8E842-4482-446B-BB54-B18A5544C8C3}"/>
              </a:ext>
            </a:extLst>
          </p:cNvPr>
          <p:cNvSpPr>
            <a:spLocks noGrp="1"/>
          </p:cNvSpPr>
          <p:nvPr/>
        </p:nvSpPr>
        <p:spPr>
          <a:xfrm>
            <a:off x="666750" y="5253037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Week of September 28, 2026</a:t>
            </a:r>
            <a:endParaRPr lang="en-CA" sz="1425" b="0" dirty="0">
              <a:solidFill>
                <a:srgbClr val="A5BAC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endParaRPr lang="en-CA" sz="1425" dirty="0">
              <a:solidFill>
                <a:srgbClr val="A5BAC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endParaRPr lang="en-CA" sz="1425" b="0" dirty="0">
              <a:solidFill>
                <a:srgbClr val="A5BAC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1425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Group 7</a:t>
            </a:r>
            <a:endParaRPr sz="1425" b="0" dirty="0">
              <a:solidFill>
                <a:srgbClr val="A5BAC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535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688838-34C3-43CE-9F94-AF81432A54A1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3117D-487C-4176-9B38-8FF09661F2AE}"/>
              </a:ext>
            </a:extLst>
          </p:cNvPr>
          <p:cNvSpPr>
            <a:spLocks noGrp="1"/>
          </p:cNvSpPr>
          <p:nvPr/>
        </p:nvSpPr>
        <p:spPr>
          <a:xfrm>
            <a:off x="10929937" y="62769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E97E83-49CB-466D-944B-EE0AA9DFCC4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7078756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Find a low-cost route through a maze whose paths can have different travel costs.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6FB9E-70A9-4296-AEFD-CE6F144C842A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STATE AND ACTIONS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0A976-92FD-4BA8-B0D0-BD7147E2FB33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5143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State: a traversable grid cell</a:t>
            </a:r>
          </a:p>
          <a:p>
            <a:pPr>
              <a:def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Actions: move to an adjacent open cell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74F29-E14D-499E-823C-1AD2658E07B2}"/>
              </a:ext>
            </a:extLst>
          </p:cNvPr>
          <p:cNvSpPr>
            <a:spLocks noGrp="1"/>
          </p:cNvSpPr>
          <p:nvPr/>
        </p:nvSpPr>
        <p:spPr>
          <a:xfrm>
            <a:off x="6477000" y="30480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INPUTS AND 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7C5BB5-865C-460D-BAB9-AED0205C564A}"/>
              </a:ext>
            </a:extLst>
          </p:cNvPr>
          <p:cNvSpPr>
            <a:spLocks noGrp="1"/>
          </p:cNvSpPr>
          <p:nvPr/>
        </p:nvSpPr>
        <p:spPr>
          <a:xfrm>
            <a:off x="6477000" y="3457575"/>
            <a:ext cx="4857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Inputs: maze, start, goal, edge costs</a:t>
            </a:r>
          </a:p>
          <a:p>
            <a:pPr>
              <a:def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Objective: minimize total path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1AE252-3982-48ED-BAE6-8AAEB796C5CA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Scope: 4-direction movement, positive integer costs, static walls and one start–goal pair.</a:t>
            </a:r>
          </a:p>
        </p:txBody>
      </p:sp>
    </p:spTree>
    <p:extLst>
      <p:ext uri="{BB962C8B-B14F-4D97-AF65-F5344CB8AC3E}">
        <p14:creationId xmlns:p14="http://schemas.microsoft.com/office/powerpoint/2010/main" val="122645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9EF1EC-4803-453F-9CCF-52E54D5E130C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Search problem formulation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1593CB-6B8F-48A9-8B23-56CF56BC7782}"/>
              </a:ext>
            </a:extLst>
          </p:cNvPr>
          <p:cNvSpPr>
            <a:spLocks noGrp="1"/>
          </p:cNvSpPr>
          <p:nvPr/>
        </p:nvSpPr>
        <p:spPr>
          <a:xfrm>
            <a:off x="10953750" y="60483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8DB81-81C0-42E4-A4C1-02B40D0EE4C3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GRAPH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A0C5F-DEBA-4D77-90CB-D22396B60657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G(V, 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37B44E-3193-4C7C-9571-DB3602A9A268}"/>
              </a:ext>
            </a:extLst>
          </p:cNvPr>
          <p:cNvSpPr>
            <a:spLocks noGrp="1"/>
          </p:cNvSpPr>
          <p:nvPr/>
        </p:nvSpPr>
        <p:spPr>
          <a:xfrm>
            <a:off x="4000500" y="2028825"/>
            <a:ext cx="7048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V: open cells in the maze</a:t>
            </a:r>
          </a:p>
          <a:p>
            <a:pPr>
              <a:def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E: valid moves to adjacent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00AD3-43AC-41AE-8540-0002CF32B3F0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PATH COST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AAF97-23DF-45B9-B77F-951A36C0C3B0}"/>
              </a:ext>
            </a:extLst>
          </p:cNvPr>
          <p:cNvSpPr>
            <a:spLocks noGrp="1"/>
          </p:cNvSpPr>
          <p:nvPr/>
        </p:nvSpPr>
        <p:spPr>
          <a:xfrm>
            <a:off x="666750" y="3686175"/>
            <a:ext cx="10382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Each move costs 1–5 units. The route cost is the sum of its move costs.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34091-8B7B-4F50-B343-D5E78F0BA93F}"/>
              </a:ext>
            </a:extLst>
          </p:cNvPr>
          <p:cNvSpPr>
            <a:spLocks noGrp="1"/>
          </p:cNvSpPr>
          <p:nvPr/>
        </p:nvSpPr>
        <p:spPr>
          <a:xfrm>
            <a:off x="666750" y="49720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GOAL 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668-F6EE-4FEA-91BA-F66AE10C7729}"/>
              </a:ext>
            </a:extLst>
          </p:cNvPr>
          <p:cNvSpPr>
            <a:spLocks noGrp="1"/>
          </p:cNvSpPr>
          <p:nvPr/>
        </p:nvSpPr>
        <p:spPr>
          <a:xfrm>
            <a:off x="666750" y="5391150"/>
            <a:ext cx="10477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Stop when the selected cell is the goal. Return the route and its total cost, or report no path.</a:t>
            </a:r>
          </a:p>
        </p:txBody>
      </p:sp>
    </p:spTree>
    <p:extLst>
      <p:ext uri="{BB962C8B-B14F-4D97-AF65-F5344CB8AC3E}">
        <p14:creationId xmlns:p14="http://schemas.microsoft.com/office/powerpoint/2010/main" val="10924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8423153-A50C-4438-9814-5BF7CE9A3817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Three search strategies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6D1B8A-7125-4627-8073-07364B31BCB5}"/>
              </a:ext>
            </a:extLst>
          </p:cNvPr>
          <p:cNvSpPr>
            <a:spLocks noGrp="1"/>
          </p:cNvSpPr>
          <p:nvPr/>
        </p:nvSpPr>
        <p:spPr>
          <a:xfrm>
            <a:off x="10858500" y="6000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C7FE84-6637-4D0D-866B-A3FFA98B3801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UNIFORM COST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F05D7F-E63B-478B-BC19-2C70278192D4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952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Cost so far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9B7A8-A720-4FB9-B666-8C8356B3FFB5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29527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Reference for the least-cost route when all edge costs are positive.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37C4C-5D8A-4696-B6E2-45E774589567}"/>
              </a:ext>
            </a:extLst>
          </p:cNvPr>
          <p:cNvSpPr>
            <a:spLocks noGrp="1"/>
          </p:cNvSpPr>
          <p:nvPr/>
        </p:nvSpPr>
        <p:spPr>
          <a:xfrm>
            <a:off x="4524375" y="169545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GREEDY BEST-FIRST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E1E1A0-EBF9-4773-B7B3-E828ACA15D13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2952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Estimated distance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1ABC6E-9CF5-4EBB-936F-E25522398295}"/>
              </a:ext>
            </a:extLst>
          </p:cNvPr>
          <p:cNvSpPr>
            <a:spLocks noGrp="1"/>
          </p:cNvSpPr>
          <p:nvPr/>
        </p:nvSpPr>
        <p:spPr>
          <a:xfrm>
            <a:off x="4524375" y="2809875"/>
            <a:ext cx="29527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Can reach the goal quickly, but may choose an expensive path.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FD11D-0398-484D-AE93-8C738EAD557C}"/>
              </a:ext>
            </a:extLst>
          </p:cNvPr>
          <p:cNvSpPr>
            <a:spLocks noGrp="1"/>
          </p:cNvSpPr>
          <p:nvPr/>
        </p:nvSpPr>
        <p:spPr>
          <a:xfrm>
            <a:off x="8334375" y="169545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A* 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86DE1-EA57-4FB4-A82E-EEB8CAE5CCA2}"/>
              </a:ext>
            </a:extLst>
          </p:cNvPr>
          <p:cNvSpPr>
            <a:spLocks noGrp="1"/>
          </p:cNvSpPr>
          <p:nvPr/>
        </p:nvSpPr>
        <p:spPr>
          <a:xfrm>
            <a:off x="8334375" y="2143125"/>
            <a:ext cx="2952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Cost + estimate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0DAF4-E948-4FC3-A583-AF11B2404E4A}"/>
              </a:ext>
            </a:extLst>
          </p:cNvPr>
          <p:cNvSpPr>
            <a:spLocks noGrp="1"/>
          </p:cNvSpPr>
          <p:nvPr/>
        </p:nvSpPr>
        <p:spPr>
          <a:xfrm>
            <a:off x="8334375" y="2809875"/>
            <a:ext cx="29527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Uses known cost and the remaining-distance estimate.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DB47E-17BB-4057-824E-FE2CC9F23F2E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Heuristic  h(n) = Manhattan distance to goal × minimum step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69A49-9073-464C-BE6E-C1295F1CED9D}"/>
              </a:ext>
            </a:extLst>
          </p:cNvPr>
          <p:cNvSpPr>
            <a:spLocks noGrp="1"/>
          </p:cNvSpPr>
          <p:nvPr/>
        </p:nvSpPr>
        <p:spPr>
          <a:xfrm>
            <a:off x="666750" y="56483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With 4-direction movement and a valid lower bound on step cost, this estimate never overstates remaining cost.</a:t>
            </a:r>
          </a:p>
        </p:txBody>
      </p:sp>
    </p:spTree>
    <p:extLst>
      <p:ext uri="{BB962C8B-B14F-4D97-AF65-F5344CB8AC3E}">
        <p14:creationId xmlns:p14="http://schemas.microsoft.com/office/powerpoint/2010/main" val="163482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F913D2-8F90-429E-8C7D-3A41C0B0074E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System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97CF62-236D-46F3-A0CD-0BE141943AA5}"/>
              </a:ext>
            </a:extLst>
          </p:cNvPr>
          <p:cNvSpPr>
            <a:spLocks noGrp="1"/>
          </p:cNvSpPr>
          <p:nvPr/>
        </p:nvSpPr>
        <p:spPr>
          <a:xfrm>
            <a:off x="10858500" y="6000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A0E541-CDA6-4F98-A537-1C785FE971CB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Maze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0E667-753F-4D99-B0E3-44DE508DC9D9}"/>
              </a:ext>
            </a:extLst>
          </p:cNvPr>
          <p:cNvSpPr>
            <a:spLocks noGrp="1"/>
          </p:cNvSpPr>
          <p:nvPr/>
        </p:nvSpPr>
        <p:spPr>
          <a:xfrm>
            <a:off x="621926" y="2252663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Grid, walls, neighbors, start and </a:t>
            </a:r>
            <a:r>
              <a:rPr lang="en-CA"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end </a:t>
            </a:r>
            <a:r>
              <a:rPr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goal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B458D1-22ED-4DBA-8249-79A3B733A2AF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A78BF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A78BFA"/>
                </a:solidFill>
                <a:latin typeface="DejaVu Sans"/>
                <a:ea typeface="DejaVu Sans"/>
                <a:cs typeface="DejaVu Sans"/>
              </a:rPr>
              <a:t>MazeSolver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A21E98-407A-42E0-80B5-5B8D2C31AE9B}"/>
              </a:ext>
            </a:extLst>
          </p:cNvPr>
          <p:cNvSpPr>
            <a:spLocks noGrp="1"/>
          </p:cNvSpPr>
          <p:nvPr/>
        </p:nvSpPr>
        <p:spPr>
          <a:xfrm>
            <a:off x="4476750" y="2238375"/>
            <a:ext cx="29527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Multi-algorithm object, </a:t>
            </a:r>
            <a:r>
              <a:rPr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path </a:t>
            </a:r>
            <a:r>
              <a:rPr lang="en-CA"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finding </a:t>
            </a:r>
            <a:r>
              <a:rPr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and per-run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04B5FF-3BB9-4901-9363-1C3F38F4E86E}"/>
              </a:ext>
            </a:extLst>
          </p:cNvPr>
          <p:cNvSpPr>
            <a:spLocks noGrp="1"/>
          </p:cNvSpPr>
          <p:nvPr/>
        </p:nvSpPr>
        <p:spPr>
          <a:xfrm>
            <a:off x="8239125" y="1666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MazeRenderer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29EFD-BB54-4838-858E-D39936D78043}"/>
              </a:ext>
            </a:extLst>
          </p:cNvPr>
          <p:cNvSpPr>
            <a:spLocks noGrp="1"/>
          </p:cNvSpPr>
          <p:nvPr/>
        </p:nvSpPr>
        <p:spPr>
          <a:xfrm>
            <a:off x="8239125" y="2238375"/>
            <a:ext cx="323850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Algorithm selection, route display and step-by-step 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7BA20-B8BA-4E54-9C42-F3DF6DF87013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STARTING POINT FROM THE SUPPLIED DOCUMENTATION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345A64-83E8-4A47-9427-EA2B771E6C3A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Java code is documented for maze import and generation, visualization, and DFS / BFS / A* solving.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42A6E-CB3A-4A94-8159-E3E769582BFF}"/>
              </a:ext>
            </a:extLst>
          </p:cNvPr>
          <p:cNvSpPr>
            <a:spLocks noGrp="1"/>
          </p:cNvSpPr>
          <p:nvPr/>
        </p:nvSpPr>
        <p:spPr>
          <a:xfrm>
            <a:off x="666750" y="54483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Planned changes: weighted moves, UCS, Greedy Best-First, reproducible runs and metrics export.</a:t>
            </a:r>
          </a:p>
        </p:txBody>
      </p:sp>
    </p:spTree>
    <p:extLst>
      <p:ext uri="{BB962C8B-B14F-4D97-AF65-F5344CB8AC3E}">
        <p14:creationId xmlns:p14="http://schemas.microsoft.com/office/powerpoint/2010/main" val="874310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8ADD84-0E2A-4A2E-B4EE-73C610716CD9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Controlled experiments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90EC66-5FC5-4D4E-A56C-36CC627558B3}"/>
              </a:ext>
            </a:extLst>
          </p:cNvPr>
          <p:cNvSpPr>
            <a:spLocks noGrp="1"/>
          </p:cNvSpPr>
          <p:nvPr/>
        </p:nvSpPr>
        <p:spPr>
          <a:xfrm>
            <a:off x="10858500" y="6000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E3FD9-0C51-480E-A7B5-F8EF60C91672}"/>
              </a:ext>
            </a:extLst>
          </p:cNvPr>
          <p:cNvSpPr>
            <a:spLocks noGrp="1"/>
          </p:cNvSpPr>
          <p:nvPr/>
        </p:nvSpPr>
        <p:spPr>
          <a:xfrm>
            <a:off x="593912" y="1357313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Same maze. Same start and goal. Three algorithms.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CFFA12-24A9-43FC-8DA3-576CEC0E747E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VARY ONE CONDITION AT A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4F987B-86D6-4052-AE44-48C2D518A672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Maze size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025A83-236E-4AB2-B57B-1F4FB5722F3E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Obstacle density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89596-8EF6-45DF-B2CB-0BDDEBF779DF}"/>
              </a:ext>
            </a:extLst>
          </p:cNvPr>
          <p:cNvSpPr>
            <a:spLocks noGrp="1"/>
          </p:cNvSpPr>
          <p:nvPr/>
        </p:nvSpPr>
        <p:spPr>
          <a:xfrm>
            <a:off x="7048500" y="3143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Cost variation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4757F-3603-4020-AD45-CD65B0CA2E95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Start–goal distance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C01FFF-EF77-45E7-95DE-F2187B4D12AC}"/>
              </a:ext>
            </a:extLst>
          </p:cNvPr>
          <p:cNvSpPr>
            <a:spLocks noGrp="1"/>
          </p:cNvSpPr>
          <p:nvPr/>
        </p:nvSpPr>
        <p:spPr>
          <a:xfrm>
            <a:off x="4953000" y="3905250"/>
            <a:ext cx="600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Random seeds and repeated runs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71CB71-0BBF-4590-AC07-40FC571EC7EF}"/>
              </a:ext>
            </a:extLst>
          </p:cNvPr>
          <p:cNvSpPr>
            <a:spLocks noGrp="1"/>
          </p:cNvSpPr>
          <p:nvPr/>
        </p:nvSpPr>
        <p:spPr>
          <a:xfrm>
            <a:off x="666750" y="5191125"/>
            <a:ext cx="102870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Include maps where the shortest route uses costly cells and a longer route is cheaper.</a:t>
            </a:r>
          </a:p>
        </p:txBody>
      </p:sp>
    </p:spTree>
    <p:extLst>
      <p:ext uri="{BB962C8B-B14F-4D97-AF65-F5344CB8AC3E}">
        <p14:creationId xmlns:p14="http://schemas.microsoft.com/office/powerpoint/2010/main" val="132524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DBA73C-528F-4A39-9202-94FFF55613D3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Proposed test matrix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665B9A-5863-4E85-81BB-9E300935C43E}"/>
              </a:ext>
            </a:extLst>
          </p:cNvPr>
          <p:cNvSpPr>
            <a:spLocks noGrp="1"/>
          </p:cNvSpPr>
          <p:nvPr/>
        </p:nvSpPr>
        <p:spPr>
          <a:xfrm>
            <a:off x="10858500" y="6000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ADC379-2338-4E0E-8F4D-AC4913120D88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BASELINE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0722EB-090D-431E-9A89-26CEC8E21623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20 × 20 grid, 25% blocked cells, move costs 1–5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D7FE9-B5C6-4985-A1FD-4C9AEB12CEDB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CHANGE ONE FACTOR AT A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4D4BD-3456-4533-A588-06E6D0E842E6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Grid size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9AFBF-6C79-4502-9972-779EF0C4C478}"/>
              </a:ext>
            </a:extLst>
          </p:cNvPr>
          <p:cNvSpPr>
            <a:spLocks noGrp="1"/>
          </p:cNvSpPr>
          <p:nvPr/>
        </p:nvSpPr>
        <p:spPr>
          <a:xfrm>
            <a:off x="3714750" y="3381375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20 × 20  /  50 × 50  /  100 × 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7A1089-7E8A-4F21-B31B-5648DE50108D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Blocked cells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32F94C-5B1E-45C7-843B-536117E50B46}"/>
              </a:ext>
            </a:extLst>
          </p:cNvPr>
          <p:cNvSpPr>
            <a:spLocks noGrp="1"/>
          </p:cNvSpPr>
          <p:nvPr/>
        </p:nvSpPr>
        <p:spPr>
          <a:xfrm>
            <a:off x="3714750" y="4000500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10%  /  25%  /  40%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330A68-CB98-4B30-9338-C46BD5A26B2B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Movement 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30AFA-BA29-4C38-BBFA-60C130D9F318}"/>
              </a:ext>
            </a:extLst>
          </p:cNvPr>
          <p:cNvSpPr>
            <a:spLocks noGrp="1"/>
          </p:cNvSpPr>
          <p:nvPr/>
        </p:nvSpPr>
        <p:spPr>
          <a:xfrm>
            <a:off x="3714750" y="4619625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All moves cost 1  /  Random costs 1–5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B086F6-F64C-456D-9CDD-F926A6BF33D6}"/>
              </a:ext>
            </a:extLst>
          </p:cNvPr>
          <p:cNvSpPr>
            <a:spLocks noGrp="1"/>
          </p:cNvSpPr>
          <p:nvPr/>
        </p:nvSpPr>
        <p:spPr>
          <a:xfrm>
            <a:off x="666750" y="56292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Use 10 seeded maps per condition. Run all three algorithms on each identical instance.</a:t>
            </a:r>
          </a:p>
        </p:txBody>
      </p:sp>
    </p:spTree>
    <p:extLst>
      <p:ext uri="{BB962C8B-B14F-4D97-AF65-F5344CB8AC3E}">
        <p14:creationId xmlns:p14="http://schemas.microsoft.com/office/powerpoint/2010/main" val="71984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CDC509-38D4-4B71-8C2C-CE71198BDE70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What we will measure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2A63F1-C0CF-4BB6-9621-2B25B87149B3}"/>
              </a:ext>
            </a:extLst>
          </p:cNvPr>
          <p:cNvSpPr>
            <a:spLocks noGrp="1"/>
          </p:cNvSpPr>
          <p:nvPr/>
        </p:nvSpPr>
        <p:spPr>
          <a:xfrm>
            <a:off x="10858500" y="6000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2C7D2-6FE9-43AA-B862-F5EE717E27ED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4290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PATH COST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9CD0C-C427-4BEF-BA2C-93DFCC972CA6}"/>
              </a:ext>
            </a:extLst>
          </p:cNvPr>
          <p:cNvSpPr>
            <a:spLocks noGrp="1"/>
          </p:cNvSpPr>
          <p:nvPr/>
        </p:nvSpPr>
        <p:spPr>
          <a:xfrm>
            <a:off x="4095750" y="1619250"/>
            <a:ext cx="70961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Sum of movement costs along the returned route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568C1-0843-4FEE-B196-51A0208B918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4290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NODES EXPLORED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B2C7A6-7999-4452-8092-8B7A80B07C7A}"/>
              </a:ext>
            </a:extLst>
          </p:cNvPr>
          <p:cNvSpPr>
            <a:spLocks noGrp="1"/>
          </p:cNvSpPr>
          <p:nvPr/>
        </p:nvSpPr>
        <p:spPr>
          <a:xfrm>
            <a:off x="4095750" y="2619375"/>
            <a:ext cx="70961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Number of cells removed from the search frontier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30E1B4-3705-41C8-B5A4-CC7B982958A7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34290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RUNTIME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53F38-50DE-42F0-985F-C4618035B09C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70961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Elapsed time for the search, excluding rendering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A6847-D342-4C58-B31F-54406080F3E4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34290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180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FINISH</a:t>
            </a:r>
            <a:endParaRPr sz="1800" b="1" dirty="0">
              <a:solidFill>
                <a:srgbClr val="28D9E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5509FF-BB65-4C00-B624-209DA8933AFD}"/>
              </a:ext>
            </a:extLst>
          </p:cNvPr>
          <p:cNvSpPr>
            <a:spLocks noGrp="1"/>
          </p:cNvSpPr>
          <p:nvPr/>
        </p:nvSpPr>
        <p:spPr>
          <a:xfrm>
            <a:off x="4095750" y="4619625"/>
            <a:ext cx="70961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Route found</a:t>
            </a:r>
            <a:r>
              <a:rPr lang="en-CA" sz="1875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 or </a:t>
            </a:r>
            <a:r>
              <a:rPr sz="1875" b="0" dirty="0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no route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FAE63D-CD44-406B-96F1-E310B1897F36}"/>
              </a:ext>
            </a:extLst>
          </p:cNvPr>
          <p:cNvSpPr>
            <a:spLocks noGrp="1"/>
          </p:cNvSpPr>
          <p:nvPr/>
        </p:nvSpPr>
        <p:spPr>
          <a:xfrm>
            <a:off x="666750" y="585787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Expected trade-off to test: Greedy may explore fewer nodes but pay more. A* may match UCS path cost with less search.</a:t>
            </a:r>
          </a:p>
        </p:txBody>
      </p:sp>
    </p:spTree>
    <p:extLst>
      <p:ext uri="{BB962C8B-B14F-4D97-AF65-F5344CB8AC3E}">
        <p14:creationId xmlns:p14="http://schemas.microsoft.com/office/powerpoint/2010/main" val="174026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347BF11-1982-47F6-87CD-F06EC9B027D4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Build plan and responsibilities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77A31E-3B79-4982-BD7D-34BB54AEAEEF}"/>
              </a:ext>
            </a:extLst>
          </p:cNvPr>
          <p:cNvSpPr>
            <a:spLocks noGrp="1"/>
          </p:cNvSpPr>
          <p:nvPr/>
        </p:nvSpPr>
        <p:spPr>
          <a:xfrm>
            <a:off x="10858500" y="600075"/>
            <a:ext cx="809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B33104-A4AB-441D-9FFB-50611C32501E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BY THE PROGRESS REPORT • WEEK OF OCTOBER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F5B4C2-D4BA-4D13-A122-00429FFA9B44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10572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Core weighted graph, all three search methods and a small test suite running.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CE59-0046-46E2-9001-5B63F418F6DA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BY THE FINAL PRESENTATION AND DEMO • WEEK OF NOVEMBER 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97C1E-6465-48F1-BA42-98F0117B72F3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10572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AF5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AF5FB"/>
                </a:solidFill>
                <a:latin typeface="DejaVu Sans"/>
                <a:ea typeface="DejaVu Sans"/>
                <a:cs typeface="DejaVu Sans"/>
              </a:rPr>
              <a:t>Experiment runner, visual comparison, analysis of trade-offs and failure cases.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91D4A-2BAF-444C-9577-32EC5C2EFB45}"/>
              </a:ext>
            </a:extLst>
          </p:cNvPr>
          <p:cNvSpPr>
            <a:spLocks noGrp="1"/>
          </p:cNvSpPr>
          <p:nvPr/>
        </p:nvSpPr>
        <p:spPr>
          <a:xfrm>
            <a:off x="666749" y="5000625"/>
            <a:ext cx="3581977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Search: </a:t>
            </a:r>
            <a:r>
              <a:rPr lang="en-CA"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Ramsey &amp; </a:t>
            </a:r>
            <a:r>
              <a:rPr lang="en-CA" sz="1650" b="1" dirty="0" err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Srirathan</a:t>
            </a:r>
            <a:endParaRPr sz="1650" b="1" dirty="0">
              <a:solidFill>
                <a:srgbClr val="28D9E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65C0E-92C9-489B-954C-4C2E05057BC8}"/>
              </a:ext>
            </a:extLst>
          </p:cNvPr>
          <p:cNvSpPr>
            <a:spLocks noGrp="1"/>
          </p:cNvSpPr>
          <p:nvPr/>
        </p:nvSpPr>
        <p:spPr>
          <a:xfrm>
            <a:off x="5250583" y="50006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Test</a:t>
            </a:r>
            <a:r>
              <a:rPr lang="en-CA" sz="1650" b="1" dirty="0" err="1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ing</a:t>
            </a:r>
            <a:r>
              <a:rPr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lang="en-CA"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Karan</a:t>
            </a:r>
            <a:endParaRPr sz="1650" b="1" dirty="0">
              <a:solidFill>
                <a:srgbClr val="28D9E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BCEAF7-A6CB-4E52-AF6E-4E88081C79E6}"/>
              </a:ext>
            </a:extLst>
          </p:cNvPr>
          <p:cNvSpPr>
            <a:spLocks noGrp="1"/>
          </p:cNvSpPr>
          <p:nvPr/>
        </p:nvSpPr>
        <p:spPr>
          <a:xfrm>
            <a:off x="8001000" y="50006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650" b="1">
                <a:solidFill>
                  <a:srgbClr val="28D9E8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1650" b="1" dirty="0">
                <a:solidFill>
                  <a:srgbClr val="28D9E8"/>
                </a:solidFill>
                <a:latin typeface="DejaVu Sans"/>
                <a:ea typeface="DejaVu Sans"/>
                <a:cs typeface="DejaVu Sans"/>
              </a:rPr>
              <a:t>Visualization: Hashir</a:t>
            </a:r>
            <a:endParaRPr sz="1650" b="1" dirty="0">
              <a:solidFill>
                <a:srgbClr val="28D9E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310D9F-62F2-4FD6-9458-4D351B9A2289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Algorithms &amp; heuristic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AA18EB-801E-4E01-936A-E7ABB319F05B}"/>
              </a:ext>
            </a:extLst>
          </p:cNvPr>
          <p:cNvSpPr>
            <a:spLocks noGrp="1"/>
          </p:cNvSpPr>
          <p:nvPr/>
        </p:nvSpPr>
        <p:spPr>
          <a:xfrm>
            <a:off x="8001000" y="53816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UI, integration &amp; slides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7A345F-517F-DADF-AB26-5D7C75AF21C9}"/>
              </a:ext>
            </a:extLst>
          </p:cNvPr>
          <p:cNvSpPr>
            <a:spLocks noGrp="1"/>
          </p:cNvSpPr>
          <p:nvPr/>
        </p:nvSpPr>
        <p:spPr>
          <a:xfrm>
            <a:off x="4950401" y="53816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0">
                <a:solidFill>
                  <a:srgbClr val="A5BAC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A5BACB"/>
                </a:solidFill>
                <a:latin typeface="DejaVu Sans"/>
                <a:ea typeface="DejaVu Sans"/>
                <a:cs typeface="DejaVu Sans"/>
              </a:rPr>
              <a:t>Maps, metrics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20015249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587</Words>
  <Application>Microsoft Macintosh PowerPoint</Application>
  <DocSecurity>0</DocSecurity>
  <PresentationFormat>Widescreen</PresentationFormat>
  <Paragraphs>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Hashir Usman</cp:lastModifiedBy>
  <cp:revision>1</cp:revision>
  <dcterms:created xsi:type="dcterms:W3CDTF">2026-09-26T18:28:56Z</dcterms:created>
  <dcterms:modified xsi:type="dcterms:W3CDTF">2026-09-29T18:27:18Z</dcterms:modified>
</cp:coreProperties>
</file>